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2" r:id="rId6"/>
    <p:sldId id="299" r:id="rId7"/>
    <p:sldId id="303" r:id="rId8"/>
    <p:sldId id="304" r:id="rId9"/>
    <p:sldId id="305" r:id="rId10"/>
    <p:sldId id="306" r:id="rId11"/>
    <p:sldId id="309" r:id="rId12"/>
    <p:sldId id="314" r:id="rId13"/>
    <p:sldId id="308" r:id="rId14"/>
    <p:sldId id="315" r:id="rId15"/>
    <p:sldId id="310" r:id="rId16"/>
    <p:sldId id="311" r:id="rId17"/>
    <p:sldId id="312" r:id="rId18"/>
    <p:sldId id="313" r:id="rId19"/>
    <p:sldId id="316" r:id="rId20"/>
    <p:sldId id="317" r:id="rId21"/>
    <p:sldId id="318" r:id="rId22"/>
    <p:sldId id="31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45" autoAdjust="0"/>
    <p:restoredTop sz="94619" autoAdjust="0"/>
  </p:normalViewPr>
  <p:slideViewPr>
    <p:cSldViewPr snapToGrid="0">
      <p:cViewPr varScale="1">
        <p:scale>
          <a:sx n="81" d="100"/>
          <a:sy n="81" d="100"/>
        </p:scale>
        <p:origin x="8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9224" y="2116951"/>
            <a:ext cx="3842691" cy="1685016"/>
          </a:xfrm>
        </p:spPr>
        <p:txBody>
          <a:bodyPr anchor="b">
            <a:noAutofit/>
          </a:bodyPr>
          <a:lstStyle/>
          <a:p>
            <a:pPr algn="ctr" defTabSz="1280160">
              <a:lnSpc>
                <a:spcPct val="100000"/>
              </a:lnSpc>
              <a:spcBef>
                <a:spcPts val="0"/>
              </a:spcBef>
            </a:pPr>
            <a:r>
              <a:rPr lang="en-US" sz="5300" dirty="0"/>
              <a:t>Stochastic processes</a:t>
            </a:r>
            <a:endParaRPr lang="en-US" sz="53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3931" y="4608576"/>
            <a:ext cx="3478490" cy="774186"/>
          </a:xfrm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dirty="0">
                <a:latin typeface="+mj-lt"/>
              </a:rPr>
              <a:t>DR\ Amr Amin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272" y="0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9224" y="2116951"/>
            <a:ext cx="3842691" cy="1685016"/>
          </a:xfrm>
        </p:spPr>
        <p:txBody>
          <a:bodyPr anchor="b">
            <a:noAutofit/>
          </a:bodyPr>
          <a:lstStyle/>
          <a:p>
            <a:pPr algn="ctr" defTabSz="1280160">
              <a:lnSpc>
                <a:spcPct val="100000"/>
              </a:lnSpc>
              <a:spcBef>
                <a:spcPts val="0"/>
              </a:spcBef>
            </a:pPr>
            <a:r>
              <a:rPr lang="en-US" sz="5500" dirty="0">
                <a:solidFill>
                  <a:schemeClr val="tx1"/>
                </a:solidFill>
              </a:rPr>
              <a:t>Team members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93931" y="4608576"/>
            <a:ext cx="3478490" cy="774186"/>
          </a:xfrm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dirty="0">
                <a:latin typeface="+mj-lt"/>
              </a:rPr>
              <a:t>DR\ Amr Amin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99A8C-8B2B-B9E4-648E-6D05FAA67D33}"/>
              </a:ext>
            </a:extLst>
          </p:cNvPr>
          <p:cNvSpPr txBox="1"/>
          <p:nvPr/>
        </p:nvSpPr>
        <p:spPr>
          <a:xfrm>
            <a:off x="1637" y="0"/>
            <a:ext cx="7909334" cy="4252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3296A3-0EA9-A77A-D680-E4A9AE6BB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757038"/>
              </p:ext>
            </p:extLst>
          </p:nvPr>
        </p:nvGraphicFramePr>
        <p:xfrm>
          <a:off x="339365" y="837543"/>
          <a:ext cx="7217678" cy="337321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43720">
                  <a:extLst>
                    <a:ext uri="{9D8B030D-6E8A-4147-A177-3AD203B41FA5}">
                      <a16:colId xmlns:a16="http://schemas.microsoft.com/office/drawing/2014/main" val="3360709677"/>
                    </a:ext>
                  </a:extLst>
                </a:gridCol>
                <a:gridCol w="2673958">
                  <a:extLst>
                    <a:ext uri="{9D8B030D-6E8A-4147-A177-3AD203B41FA5}">
                      <a16:colId xmlns:a16="http://schemas.microsoft.com/office/drawing/2014/main" val="3195491596"/>
                    </a:ext>
                  </a:extLst>
                </a:gridCol>
              </a:tblGrid>
              <a:tr h="626661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Name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ID</a:t>
                      </a: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3395908"/>
                  </a:ext>
                </a:extLst>
              </a:tr>
              <a:tr h="660819">
                <a:tc>
                  <a:txBody>
                    <a:bodyPr/>
                    <a:lstStyle/>
                    <a:p>
                      <a:r>
                        <a:rPr lang="en-US" sz="2800" dirty="0" err="1"/>
                        <a:t>Wesam</a:t>
                      </a:r>
                      <a:r>
                        <a:rPr lang="en-US" sz="2800" dirty="0"/>
                        <a:t> Fathy Masoud Omar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20221451271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07819"/>
                  </a:ext>
                </a:extLst>
              </a:tr>
              <a:tr h="690771">
                <a:tc>
                  <a:txBody>
                    <a:bodyPr/>
                    <a:lstStyle/>
                    <a:p>
                      <a:r>
                        <a:rPr lang="en-US" sz="2800" dirty="0" err="1"/>
                        <a:t>Nourhan</a:t>
                      </a:r>
                      <a:r>
                        <a:rPr lang="en-US" sz="2800" dirty="0"/>
                        <a:t> Mohamed Fathy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20221452411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022498"/>
                  </a:ext>
                </a:extLst>
              </a:tr>
              <a:tr h="690771">
                <a:tc>
                  <a:txBody>
                    <a:bodyPr/>
                    <a:lstStyle/>
                    <a:p>
                      <a:r>
                        <a:rPr lang="en-US" sz="2800" dirty="0"/>
                        <a:t>Mirna Samir Mohamed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20221450912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83352"/>
                  </a:ext>
                </a:extLst>
              </a:tr>
              <a:tr h="690771">
                <a:tc>
                  <a:txBody>
                    <a:bodyPr/>
                    <a:lstStyle/>
                    <a:p>
                      <a:r>
                        <a:rPr lang="en-US" sz="2800" dirty="0" err="1"/>
                        <a:t>Shahd</a:t>
                      </a:r>
                      <a:r>
                        <a:rPr lang="en-US" sz="2800" dirty="0"/>
                        <a:t> Ahmed Saad Amin 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20221452998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152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898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 Markov Model(HMM)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470162" y="1300899"/>
            <a:ext cx="11251676" cy="485440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700" b="1" u="sng" dirty="0">
                <a:ln w="12700" cmpd="sng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INTRODUCTION</a:t>
            </a:r>
            <a:endParaRPr lang="en-US" sz="2700" b="1" u="sng" dirty="0">
              <a:ln w="12700" cmpd="sng">
                <a:solidFill>
                  <a:schemeClr val="accent1">
                    <a:lumMod val="40000"/>
                    <a:lumOff val="60000"/>
                  </a:schemeClr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is a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statistical model 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that can be used to describe the evolution of observable events that depend on internal factors, which are not directly observable. We call the observed event a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`symbol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' and the invisible factor underlying the observation a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`state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’.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An HMM consists of two stochastic processes, namely, an invisible process of hidden states and a visible process of observable symbols. The hidden states form a Markov chain, and the probability distribution of the observed symbol depends on the underlying state. For this reason, an HMM is also called a doubly-embedded stochastic process.</a:t>
            </a:r>
            <a:endParaRPr lang="ar-EG" sz="22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When we can not observe the state themselves but only the result of some probability function(observation) of the states we utilize HMM. HMM is a statistical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Markov model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in which the system being modeled is assumed to be a 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Markov process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with unobserved (</a:t>
            </a:r>
            <a:r>
              <a:rPr lang="en-US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hidden</a:t>
            </a: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states.</a:t>
            </a:r>
            <a:endParaRPr lang="ar-EG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34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 Markov Model(HMM)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470162" y="1300899"/>
            <a:ext cx="11251676" cy="49859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 u="sng" dirty="0">
                <a:ln w="12700" cmpd="sng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MODEL PARAMETERS:</a:t>
            </a:r>
            <a:endParaRPr lang="en-US" sz="25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Transition Probabilities “A”</a:t>
            </a:r>
            <a:r>
              <a:rPr lang="en-US" sz="2200" b="1" dirty="0">
                <a:latin typeface="+mj-lt"/>
              </a:rPr>
              <a:t>:</a:t>
            </a:r>
            <a:endParaRPr lang="en-US" sz="2200" dirty="0">
              <a:latin typeface="+mj-lt"/>
            </a:endParaRPr>
          </a:p>
          <a:p>
            <a:pPr lvl="1"/>
            <a:r>
              <a:rPr lang="en-US" sz="2200" dirty="0">
                <a:latin typeface="+mj-lt"/>
              </a:rPr>
              <a:t>The probability of transitioning from one state to another is defined by a set of transition probabilities. These probabilities are often represented by a transition matrix.</a:t>
            </a:r>
          </a:p>
          <a:p>
            <a:pPr lvl="1"/>
            <a:endParaRPr lang="en-US" sz="1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Emission Probabilities “B”</a:t>
            </a:r>
            <a:r>
              <a:rPr lang="en-US" sz="2200" b="1" dirty="0">
                <a:latin typeface="+mj-lt"/>
              </a:rPr>
              <a:t>:</a:t>
            </a:r>
            <a:endParaRPr lang="en-US" sz="2200" dirty="0">
              <a:latin typeface="+mj-lt"/>
            </a:endParaRPr>
          </a:p>
          <a:p>
            <a:pPr lvl="1"/>
            <a:r>
              <a:rPr lang="en-US" sz="2200" dirty="0"/>
              <a:t>Each hidden state emits observable symbols with certain probabilities. The emission probabilities are often represented by an emission matrix.</a:t>
            </a:r>
          </a:p>
          <a:p>
            <a:pPr lvl="1"/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Initial State Probabilities “</a:t>
            </a:r>
            <a:r>
              <a:rPr lang="el-GR" sz="2200" b="1" dirty="0">
                <a:latin typeface="+mj-lt"/>
              </a:rPr>
              <a:t>π</a:t>
            </a:r>
            <a:r>
              <a:rPr lang="en-US" sz="2200" b="1" dirty="0"/>
              <a:t>”</a:t>
            </a:r>
            <a:r>
              <a:rPr lang="en-US" sz="2200" b="1" dirty="0">
                <a:latin typeface="+mj-lt"/>
              </a:rPr>
              <a:t>:</a:t>
            </a:r>
            <a:endParaRPr lang="en-US" sz="2200" dirty="0">
              <a:latin typeface="+mj-lt"/>
            </a:endParaRPr>
          </a:p>
          <a:p>
            <a:pPr lvl="1"/>
            <a:r>
              <a:rPr lang="en-US" sz="2200" dirty="0">
                <a:latin typeface="+mj-lt"/>
              </a:rPr>
              <a:t>There is an initial probability distribution over the hidden states, indicating the likelihood of starting in each state.</a:t>
            </a: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lvl="1"/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0359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Hidden Markov Model(HMM)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470162" y="1300899"/>
            <a:ext cx="11251676" cy="48782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500" b="1" u="sng" dirty="0">
                <a:ln w="12700" cmpd="sng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MODEL PARAMETERS:</a:t>
            </a:r>
            <a:endParaRPr lang="en-US" sz="2500" b="1" dirty="0">
              <a:solidFill>
                <a:schemeClr val="accent2">
                  <a:lumMod val="75000"/>
                </a:schemeClr>
              </a:solidFill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Transition Probabilities “A”</a:t>
            </a:r>
            <a:r>
              <a:rPr lang="en-US" sz="2200" b="1" u="sng" dirty="0">
                <a:latin typeface="+mj-lt"/>
              </a:rPr>
              <a:t>:</a:t>
            </a:r>
            <a:endParaRPr lang="en-US" sz="2200" u="sng" dirty="0">
              <a:latin typeface="+mj-lt"/>
            </a:endParaRPr>
          </a:p>
          <a:p>
            <a:pPr lvl="1"/>
            <a:r>
              <a:rPr lang="en-US" sz="2200" dirty="0">
                <a:latin typeface="+mj-lt"/>
              </a:rPr>
              <a:t>The probability of transitioning from one state to another is defined by a set of transition probabilities. These probabilities are often represented by a transition matrix.</a:t>
            </a:r>
            <a:endParaRPr lang="en-US" sz="15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Emission Probabilities “B”</a:t>
            </a:r>
            <a:r>
              <a:rPr lang="en-US" sz="2200" b="1" u="sng" dirty="0">
                <a:latin typeface="+mj-lt"/>
              </a:rPr>
              <a:t>:</a:t>
            </a:r>
            <a:endParaRPr lang="en-US" sz="2200" u="sng" dirty="0">
              <a:latin typeface="+mj-lt"/>
            </a:endParaRPr>
          </a:p>
          <a:p>
            <a:pPr lvl="1"/>
            <a:r>
              <a:rPr lang="en-US" sz="2200" dirty="0">
                <a:latin typeface="+mj-lt"/>
              </a:rPr>
              <a:t>Each hidden state emits observable symbols with certain probabilities. The emission probabilities are often represented by an emission matrix.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Initial State Probabilities “</a:t>
            </a:r>
            <a:r>
              <a:rPr lang="el-GR" sz="2200" b="1" u="sng" dirty="0">
                <a:latin typeface="+mj-lt"/>
              </a:rPr>
              <a:t>π</a:t>
            </a:r>
            <a:r>
              <a:rPr lang="en-US" sz="2200" b="1" u="sng" dirty="0"/>
              <a:t>”</a:t>
            </a:r>
            <a:r>
              <a:rPr lang="en-US" sz="2200" b="1" u="sng" dirty="0">
                <a:latin typeface="+mj-lt"/>
              </a:rPr>
              <a:t>:</a:t>
            </a:r>
            <a:endParaRPr lang="en-US" sz="2200" u="sng" dirty="0">
              <a:latin typeface="+mj-lt"/>
            </a:endParaRPr>
          </a:p>
          <a:p>
            <a:pPr lvl="1"/>
            <a:r>
              <a:rPr lang="en-US" sz="2200" dirty="0">
                <a:latin typeface="+mj-lt"/>
              </a:rPr>
              <a:t>There is an initial probability distribution over the hidden states, indicating the likelihood of starting in each state.</a:t>
            </a:r>
          </a:p>
          <a:p>
            <a:pPr lvl="1"/>
            <a:endParaRPr lang="en-US" sz="1100" dirty="0"/>
          </a:p>
          <a:p>
            <a:pPr lvl="1"/>
            <a:endParaRPr lang="en-US" sz="11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937517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472440" y="1706252"/>
            <a:ext cx="11386480" cy="4678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/>
            <a:endParaRPr lang="en-US" dirty="0"/>
          </a:p>
          <a:p>
            <a:pPr lvl="1"/>
            <a:endParaRPr lang="en-US" sz="1000" dirty="0"/>
          </a:p>
          <a:p>
            <a:pPr lvl="1"/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900" dirty="0"/>
              <a:t>Is also known as the forward-backward algorithm or the expectation-maximization (EM) algorithm, is commonly used to </a:t>
            </a:r>
            <a:r>
              <a:rPr lang="en-US" sz="1900" b="1" dirty="0"/>
              <a:t>estimate</a:t>
            </a:r>
            <a:r>
              <a:rPr lang="en-US" sz="1900" dirty="0"/>
              <a:t> the parameters of an HMM from labeled or unlabeled data.</a:t>
            </a:r>
          </a:p>
          <a:p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accent3">
                    <a:lumMod val="75000"/>
                  </a:schemeClr>
                </a:solidFill>
              </a:rPr>
              <a:t>Initialization: </a:t>
            </a:r>
          </a:p>
          <a:p>
            <a:pPr lvl="1"/>
            <a:r>
              <a:rPr lang="en-US" dirty="0"/>
              <a:t>The algorithm starts by initializing the transition probabilities </a:t>
            </a:r>
            <a:r>
              <a:rPr lang="en-US" b="1" dirty="0"/>
              <a:t>“A”, </a:t>
            </a:r>
            <a:r>
              <a:rPr lang="en-US" dirty="0"/>
              <a:t>emission probabilities </a:t>
            </a:r>
            <a:r>
              <a:rPr lang="en-US" b="1" dirty="0"/>
              <a:t>“B”</a:t>
            </a:r>
            <a:r>
              <a:rPr lang="en-US" dirty="0"/>
              <a:t>, and initial state distribution </a:t>
            </a:r>
            <a:r>
              <a:rPr lang="en-US" b="1" dirty="0">
                <a:latin typeface="+mj-lt"/>
              </a:rPr>
              <a:t>“ </a:t>
            </a:r>
            <a:r>
              <a:rPr lang="en-US" b="1" i="1" dirty="0">
                <a:latin typeface="+mj-lt"/>
              </a:rPr>
              <a:t>π</a:t>
            </a:r>
            <a:r>
              <a:rPr lang="en-US" b="1" dirty="0">
                <a:latin typeface="+mj-lt"/>
              </a:rPr>
              <a:t> ” </a:t>
            </a:r>
            <a:r>
              <a:rPr lang="en-US" dirty="0"/>
              <a:t>of the HMM. These initial values can be set randomly or based on prior knowledge.</a:t>
            </a:r>
          </a:p>
          <a:p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E-step (Expectation): </a:t>
            </a:r>
          </a:p>
          <a:p>
            <a:pPr lvl="1"/>
            <a:r>
              <a:rPr lang="en-US" dirty="0"/>
              <a:t>In this step, the algorithm computes the expected counts of the transitions and emissions based on the current parameter estimates and the observed data. It uses the forward-backward algorithm to calculate the forward probabilities  and the backward probabilities. These probabilities are used to estimate the expected</a:t>
            </a:r>
          </a:p>
          <a:p>
            <a:pPr lvl="1"/>
            <a:r>
              <a:rPr lang="en-US" dirty="0"/>
              <a:t> number of times each transition and emission occurred.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3351171C-173B-85B9-D61D-025C3906BD4C}"/>
              </a:ext>
            </a:extLst>
          </p:cNvPr>
          <p:cNvSpPr/>
          <p:nvPr/>
        </p:nvSpPr>
        <p:spPr>
          <a:xfrm>
            <a:off x="1423447" y="125596"/>
            <a:ext cx="9317689" cy="1580656"/>
          </a:xfrm>
          <a:prstGeom prst="downArrowCallout">
            <a:avLst>
              <a:gd name="adj1" fmla="val 22377"/>
              <a:gd name="adj2" fmla="val 29762"/>
              <a:gd name="adj3" fmla="val 13571"/>
              <a:gd name="adj4" fmla="val 70802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Now , we show one of component HMMs can be used to solve tasks is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01AAA-5D95-003E-3723-3CAE513DE068}"/>
              </a:ext>
            </a:extLst>
          </p:cNvPr>
          <p:cNvSpPr txBox="1"/>
          <p:nvPr/>
        </p:nvSpPr>
        <p:spPr>
          <a:xfrm>
            <a:off x="2645789" y="1706252"/>
            <a:ext cx="69004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000" b="1" u="sng" dirty="0">
                <a:ln w="12700" cmpd="sng">
                  <a:solidFill>
                    <a:schemeClr val="accent1">
                      <a:lumMod val="40000"/>
                      <a:lumOff val="6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The Baum-welch Algorithm</a:t>
            </a:r>
            <a:endParaRPr lang="en-US" sz="3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4F3E3EE9-7E76-3EA9-A150-559F864587FC}"/>
              </a:ext>
            </a:extLst>
          </p:cNvPr>
          <p:cNvSpPr/>
          <p:nvPr/>
        </p:nvSpPr>
        <p:spPr>
          <a:xfrm>
            <a:off x="6268824" y="4982065"/>
            <a:ext cx="5590095" cy="1580656"/>
          </a:xfrm>
          <a:prstGeom prst="stripedRightArrow">
            <a:avLst>
              <a:gd name="adj1" fmla="val 36094"/>
              <a:gd name="adj2" fmla="val 76726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Given the above</a:t>
            </a:r>
            <a:r>
              <a:rPr lang="en-US" sz="2000" dirty="0"/>
              <a:t>, we will now introduce the forward algorithm and backward algorithm </a:t>
            </a:r>
          </a:p>
        </p:txBody>
      </p:sp>
    </p:spTree>
    <p:extLst>
      <p:ext uri="{BB962C8B-B14F-4D97-AF65-F5344CB8AC3E}">
        <p14:creationId xmlns:p14="http://schemas.microsoft.com/office/powerpoint/2010/main" val="40564537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69283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Forward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49065" y="1254258"/>
            <a:ext cx="11521440" cy="5120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000" dirty="0">
                <a:latin typeface="+mj-lt"/>
              </a:rPr>
              <a:t>stands as a dynamic programming method designed to compute the probability of observing a sequence of observations. This calculation is performed within the context of a specific state sequence in the HMM. The algorithm is used in conjunction with the Backward algorithm to calculate the probability of a particular state sequence given a sequence of observations.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10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81AC0-1942-90AE-E2DB-2A43DDEC8622}"/>
              </a:ext>
            </a:extLst>
          </p:cNvPr>
          <p:cNvSpPr txBox="1"/>
          <p:nvPr/>
        </p:nvSpPr>
        <p:spPr>
          <a:xfrm>
            <a:off x="335279" y="2797540"/>
            <a:ext cx="1154901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badi" panose="020B0604020104020204" pitchFamily="34" charset="0"/>
              </a:rPr>
              <a:t>We compute Mathematically: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N</a:t>
            </a:r>
            <a:r>
              <a:rPr lang="en-US" dirty="0"/>
              <a:t>: Number of hidden states in the HMM.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M</a:t>
            </a:r>
            <a:r>
              <a:rPr lang="en-US" dirty="0"/>
              <a:t>: Number of distinct observation symbols.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A: </a:t>
            </a:r>
            <a:r>
              <a:rPr lang="en-US" dirty="0"/>
              <a:t>Transition probability matrix of size </a:t>
            </a:r>
            <a:r>
              <a:rPr lang="en-US" i="1" dirty="0"/>
              <a:t>N</a:t>
            </a:r>
            <a:r>
              <a:rPr lang="en-US" dirty="0"/>
              <a:t>×</a:t>
            </a:r>
            <a:r>
              <a:rPr lang="en-US" i="1" dirty="0"/>
              <a:t>N</a:t>
            </a:r>
            <a:r>
              <a:rPr lang="en-US" dirty="0"/>
              <a:t>, where </a:t>
            </a:r>
            <a:r>
              <a:rPr lang="en-US" i="1" dirty="0" err="1"/>
              <a:t>Aij</a:t>
            </a:r>
            <a:r>
              <a:rPr lang="en-US" dirty="0"/>
              <a:t>​ represents the probability of transitioning from state </a:t>
            </a:r>
            <a:r>
              <a:rPr lang="en-US" i="1" dirty="0" err="1"/>
              <a:t>i</a:t>
            </a:r>
            <a:r>
              <a:rPr lang="en-US" dirty="0"/>
              <a:t> to state </a:t>
            </a:r>
            <a:r>
              <a:rPr lang="en-US" i="1" dirty="0"/>
              <a:t>j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B</a:t>
            </a:r>
            <a:r>
              <a:rPr lang="en-US" dirty="0"/>
              <a:t>: Emission probability matrix of size </a:t>
            </a:r>
            <a:r>
              <a:rPr lang="en-US" i="1" dirty="0"/>
              <a:t>N</a:t>
            </a:r>
            <a:r>
              <a:rPr lang="en-US" dirty="0"/>
              <a:t>×</a:t>
            </a:r>
            <a:r>
              <a:rPr lang="en-US" i="1" dirty="0"/>
              <a:t>M</a:t>
            </a:r>
            <a:r>
              <a:rPr lang="en-US" dirty="0"/>
              <a:t>, where </a:t>
            </a:r>
            <a:r>
              <a:rPr lang="en-US" i="1" dirty="0" err="1"/>
              <a:t>Bij</a:t>
            </a:r>
            <a:r>
              <a:rPr lang="en-US" dirty="0"/>
              <a:t>​ represents the probability of emitting observation symbol </a:t>
            </a:r>
            <a:r>
              <a:rPr lang="en-US" i="1" dirty="0"/>
              <a:t>j</a:t>
            </a:r>
            <a:r>
              <a:rPr lang="en-US" dirty="0"/>
              <a:t> from state </a:t>
            </a:r>
            <a:r>
              <a:rPr lang="en-US" i="1" dirty="0" err="1"/>
              <a:t>i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i="1" dirty="0">
                <a:latin typeface="+mj-lt"/>
              </a:rPr>
              <a:t>π</a:t>
            </a:r>
            <a:r>
              <a:rPr lang="en-US" dirty="0"/>
              <a:t>: Initial state probability vector of size </a:t>
            </a:r>
            <a:r>
              <a:rPr lang="en-US" i="1" dirty="0"/>
              <a:t>N</a:t>
            </a:r>
            <a:r>
              <a:rPr lang="en-US" dirty="0"/>
              <a:t>, where </a:t>
            </a:r>
            <a:r>
              <a:rPr lang="en-US" i="1" dirty="0"/>
              <a:t>π</a:t>
            </a:r>
            <a:r>
              <a:rPr lang="en-US" i="1" dirty="0" err="1"/>
              <a:t>i</a:t>
            </a:r>
            <a:r>
              <a:rPr lang="en-US" dirty="0"/>
              <a:t>​ is the probability of starting in state </a:t>
            </a:r>
            <a:r>
              <a:rPr lang="en-US" i="1" dirty="0" err="1"/>
              <a:t>i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Si​ :is the </a:t>
            </a:r>
            <a:r>
              <a:rPr lang="en-US" dirty="0" err="1"/>
              <a:t>ith</a:t>
            </a:r>
            <a:r>
              <a:rPr lang="en-US" dirty="0"/>
              <a:t> state in the HMM.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bi​(Ot​) is the probability of observing Ot​ given that the system is in state Si​.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1,2,…,</a:t>
            </a:r>
            <a:r>
              <a:rPr lang="en-US" b="1" dirty="0"/>
              <a:t>O</a:t>
            </a:r>
            <a:r>
              <a:rPr lang="en-US" dirty="0"/>
              <a:t>=</a:t>
            </a:r>
            <a:r>
              <a:rPr lang="en-US" i="1" dirty="0"/>
              <a:t>O</a:t>
            </a:r>
            <a:r>
              <a:rPr lang="en-US" dirty="0"/>
              <a:t>1​,</a:t>
            </a:r>
            <a:r>
              <a:rPr lang="en-US" i="1" dirty="0"/>
              <a:t>O</a:t>
            </a:r>
            <a:r>
              <a:rPr lang="en-US" dirty="0"/>
              <a:t>2​,…,</a:t>
            </a:r>
            <a:r>
              <a:rPr lang="en-US" i="1" dirty="0"/>
              <a:t>OT</a:t>
            </a:r>
            <a:r>
              <a:rPr lang="en-US" dirty="0"/>
              <a:t>​: Observation sequence of length </a:t>
            </a:r>
            <a:r>
              <a:rPr lang="en-US" i="1" dirty="0"/>
              <a:t>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694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Forward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21492" y="1200983"/>
            <a:ext cx="11521440" cy="5120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7415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Let </a:t>
            </a:r>
            <a:r>
              <a:rPr lang="en-US" sz="2000" i="1" dirty="0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αt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​(</a:t>
            </a:r>
            <a:r>
              <a:rPr lang="en-US" sz="2000" i="1" dirty="0" err="1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)</a:t>
            </a:r>
            <a:r>
              <a:rPr lang="en-US" sz="2000" dirty="0">
                <a:solidFill>
                  <a:srgbClr val="37415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denote the forward probability at time </a:t>
            </a:r>
            <a:r>
              <a:rPr lang="en-US" sz="2000" i="1" dirty="0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t</a:t>
            </a:r>
            <a:r>
              <a:rPr lang="en-US" sz="2000" dirty="0">
                <a:solidFill>
                  <a:srgbClr val="37415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for being in state </a:t>
            </a:r>
            <a:r>
              <a:rPr lang="en-US" sz="2000" i="1" dirty="0" err="1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i</a:t>
            </a:r>
            <a:r>
              <a:rPr lang="en-US" sz="2000" dirty="0">
                <a:solidFill>
                  <a:srgbClr val="37415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and observing the sequence 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1,2,</a:t>
            </a:r>
            <a:r>
              <a:rPr lang="en-US" sz="2000" dirty="0">
                <a:solidFill>
                  <a:srgbClr val="374151"/>
                </a:solidFill>
                <a:latin typeface="Cambria" panose="02040503050406030204" pitchFamily="18" charset="0"/>
                <a:ea typeface="Times New Roman" panose="02020603050405020304" pitchFamily="18" charset="0"/>
                <a:cs typeface="Cambria" panose="02040503050406030204" pitchFamily="18" charset="0"/>
              </a:rPr>
              <a:t>…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,</a:t>
            </a:r>
            <a:r>
              <a:rPr lang="en-US" sz="2000" i="1" dirty="0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O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1​,</a:t>
            </a:r>
            <a:r>
              <a:rPr lang="en-US" sz="2000" i="1" dirty="0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O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2​,…,</a:t>
            </a:r>
            <a:r>
              <a:rPr lang="en-US" sz="2000" i="1" dirty="0">
                <a:solidFill>
                  <a:srgbClr val="374151"/>
                </a:solidFill>
                <a:latin typeface="KaTeX_Math"/>
                <a:ea typeface="Times New Roman" panose="02020603050405020304" pitchFamily="18" charset="0"/>
                <a:cs typeface="Segoe UI" panose="020B0502040204020203" pitchFamily="34" charset="0"/>
              </a:rPr>
              <a:t>Ot</a:t>
            </a:r>
            <a:r>
              <a:rPr lang="en-US" sz="2000" dirty="0">
                <a:solidFill>
                  <a:srgbClr val="374151"/>
                </a:solidFill>
                <a:latin typeface="KaTeX_Main"/>
                <a:ea typeface="Times New Roman" panose="02020603050405020304" pitchFamily="18" charset="0"/>
                <a:cs typeface="Segoe UI" panose="020B0502040204020203" pitchFamily="34" charset="0"/>
              </a:rPr>
              <a:t>​</a:t>
            </a:r>
            <a:r>
              <a:rPr lang="en-US" sz="2000" dirty="0">
                <a:solidFill>
                  <a:srgbClr val="374151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The forward algorithm computes these probabilities recursively as follows:</a:t>
            </a: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CD8F0C-96F5-25E2-1DE6-423470455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787" y="1975308"/>
            <a:ext cx="5623432" cy="6279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3">
                <a:lumMod val="20000"/>
                <a:lumOff val="8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0297A6-BA78-0DBB-9804-FF380179A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75" y="2697270"/>
            <a:ext cx="8885456" cy="34774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0738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Forward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21492" y="1200983"/>
            <a:ext cx="11521440" cy="51206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Bef>
                <a:spcPts val="1500"/>
              </a:spcBef>
              <a:spcAft>
                <a:spcPts val="1500"/>
              </a:spcAft>
            </a:pPr>
            <a:endParaRPr lang="en-US" sz="1000" dirty="0">
              <a:solidFill>
                <a:srgbClr val="374151"/>
              </a:solidFill>
              <a:latin typeface="Segoe UI" panose="020B050204020402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D10DB-E034-0D2E-51AD-E9E4E1FF20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23" t="17512" r="9073" b="39519"/>
          <a:stretch/>
        </p:blipFill>
        <p:spPr>
          <a:xfrm>
            <a:off x="596395" y="1349850"/>
            <a:ext cx="10971633" cy="482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2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Backward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21492" y="1200985"/>
            <a:ext cx="11521440" cy="51663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backward algorithm is another dynamic programming algorithm </a:t>
            </a:r>
            <a:r>
              <a:rPr lang="en-US" dirty="0">
                <a:latin typeface="Roboto" panose="020000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is used to calculate the probability of observing a sequence of observations from a Hidden Markov Model (HMM) given a particular state sequence. The algorithm is used in conjunction with the forward algorithm to calculate the probability of a particular state sequence given a sequence of observations.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Let's define some notation before presenting the equations: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dirty="0"/>
              <a:t> </a:t>
            </a:r>
            <a:endParaRPr lang="en-US" sz="2000" dirty="0"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F889ACE-33E3-F28D-59CC-1CCB0ACF8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344" y="2976880"/>
            <a:ext cx="8935541" cy="32715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4990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Backward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21492" y="1200985"/>
            <a:ext cx="11521440" cy="50292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n-US" sz="2000" dirty="0"/>
              <a:t> </a:t>
            </a:r>
            <a:endParaRPr lang="en-US" sz="2000" dirty="0"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solidFill>
                <a:srgbClr val="111111"/>
              </a:solidFill>
              <a:latin typeface="Roboto" panose="02000000000000000000" pitchFamily="2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6AF54A-5E13-B5B6-5029-FD5F3ED71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47" t="17182" r="11237" b="47079"/>
          <a:stretch/>
        </p:blipFill>
        <p:spPr>
          <a:xfrm>
            <a:off x="457645" y="1321175"/>
            <a:ext cx="11276710" cy="478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3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/>
              <p:nvPr/>
            </p:nvSpPr>
            <p:spPr>
              <a:xfrm>
                <a:off x="335280" y="1261945"/>
                <a:ext cx="11521440" cy="50292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200" b="1" u="sng" dirty="0">
                    <a:solidFill>
                      <a:schemeClr val="accent1">
                        <a:lumMod val="75000"/>
                      </a:schemeClr>
                    </a:solidFill>
                  </a:rPr>
                  <a:t>The Baum-Welch algorithm iteratively performs the following steps until convergence</a:t>
                </a:r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US" sz="2400" b="1" dirty="0"/>
                  <a:t>Initialization:</a:t>
                </a:r>
                <a:r>
                  <a:rPr lang="en-US" sz="2400" dirty="0"/>
                  <a:t>    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/>
                  <a:t> </a:t>
                </a:r>
                <a:r>
                  <a:rPr lang="en-US" sz="2200" dirty="0"/>
                  <a:t>Initialize the HMM parameters </a:t>
                </a:r>
                <a:r>
                  <a:rPr lang="en-US" sz="2200" b="1" dirty="0"/>
                  <a:t>A</a:t>
                </a:r>
                <a:r>
                  <a:rPr lang="en-US" sz="2200" dirty="0"/>
                  <a:t>, </a:t>
                </a:r>
                <a:r>
                  <a:rPr lang="en-US" sz="2200" b="1" dirty="0"/>
                  <a:t>B</a:t>
                </a:r>
                <a:r>
                  <a:rPr lang="en-US" sz="2200" dirty="0"/>
                  <a:t>, </a:t>
                </a:r>
                <a:r>
                  <a:rPr lang="en-US" sz="2200" i="1" dirty="0"/>
                  <a:t>π</a:t>
                </a:r>
                <a:r>
                  <a:rPr lang="en-US" sz="2200" dirty="0"/>
                  <a:t> </a:t>
                </a:r>
              </a:p>
              <a:p>
                <a:pPr lvl="0"/>
                <a:r>
                  <a:rPr lang="en-US" sz="2400" b="1" dirty="0"/>
                  <a:t>2) E-step (Forward-Backward Algorithm):</a:t>
                </a: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Use the forward algorithm to compute the forward probabilities </a:t>
                </a:r>
                <a:r>
                  <a:rPr lang="en-US" sz="2200" i="1" dirty="0"/>
                  <a:t>αt</a:t>
                </a:r>
                <a:r>
                  <a:rPr lang="en-US" sz="2200" dirty="0"/>
                  <a:t>​(</a:t>
                </a:r>
                <a:r>
                  <a:rPr lang="en-US" sz="2200" i="1" dirty="0" err="1"/>
                  <a:t>i</a:t>
                </a:r>
                <a:r>
                  <a:rPr lang="en-US" sz="2200" dirty="0"/>
                  <a:t>) for each time </a:t>
                </a:r>
                <a:r>
                  <a:rPr lang="en-US" sz="2200" i="1" dirty="0"/>
                  <a:t>t</a:t>
                </a:r>
                <a:r>
                  <a:rPr lang="en-US" sz="2200" dirty="0"/>
                  <a:t> and state </a:t>
                </a:r>
                <a:r>
                  <a:rPr lang="en-US" sz="2200" i="1" dirty="0" err="1"/>
                  <a:t>i</a:t>
                </a:r>
                <a:r>
                  <a:rPr lang="en-US" sz="2200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Use the backward algorithm to compute the backward probabilities </a:t>
                </a:r>
                <a:r>
                  <a:rPr lang="en-US" sz="2200" i="1" dirty="0"/>
                  <a:t>βt</a:t>
                </a:r>
                <a:r>
                  <a:rPr lang="en-US" sz="2200" dirty="0"/>
                  <a:t>​(</a:t>
                </a:r>
                <a:r>
                  <a:rPr lang="en-US" sz="2200" i="1" dirty="0" err="1"/>
                  <a:t>i</a:t>
                </a:r>
                <a:r>
                  <a:rPr lang="en-US" sz="2200" dirty="0"/>
                  <a:t>) for each time </a:t>
                </a:r>
                <a:r>
                  <a:rPr lang="en-US" sz="2200" i="1" dirty="0"/>
                  <a:t>t</a:t>
                </a:r>
                <a:r>
                  <a:rPr lang="en-US" sz="2200" dirty="0"/>
                  <a:t> and state </a:t>
                </a:r>
                <a:r>
                  <a:rPr lang="en-US" sz="2200" i="1" dirty="0" err="1"/>
                  <a:t>i</a:t>
                </a:r>
                <a:r>
                  <a:rPr lang="en-US" sz="2200" dirty="0"/>
                  <a:t>.</a:t>
                </a:r>
              </a:p>
              <a:p>
                <a:pPr marL="742950" lvl="1" indent="-28575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/>
                  <a:t>Compute the probability of being in state </a:t>
                </a:r>
                <a:r>
                  <a:rPr lang="en-US" sz="2200" i="1" dirty="0" err="1"/>
                  <a:t>i</a:t>
                </a:r>
                <a:r>
                  <a:rPr lang="en-US" sz="2200" dirty="0"/>
                  <a:t> at time </a:t>
                </a:r>
                <a:r>
                  <a:rPr lang="en-US" sz="2200" i="1" dirty="0"/>
                  <a:t>t</a:t>
                </a:r>
                <a:r>
                  <a:rPr lang="en-US" sz="2200" dirty="0"/>
                  <a:t> and transitioning to state </a:t>
                </a:r>
                <a:r>
                  <a:rPr lang="en-US" sz="2200" i="1" dirty="0"/>
                  <a:t>j</a:t>
                </a:r>
                <a:r>
                  <a:rPr lang="en-US" sz="2200" dirty="0"/>
                  <a:t> at time </a:t>
                </a:r>
                <a:r>
                  <a:rPr lang="en-US" sz="2200" i="1" dirty="0"/>
                  <a:t>t</a:t>
                </a:r>
                <a:r>
                  <a:rPr lang="en-US" sz="2200" dirty="0"/>
                  <a:t>+1</a:t>
                </a:r>
                <a:r>
                  <a:rPr lang="en-US" sz="2300" dirty="0"/>
                  <a:t>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mtClean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l-GR" sz="2400" i="1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m:t>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  <m:t>𝑘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+mj-lt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l-GR" sz="240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40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𝑡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+mj-lt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+mj-lt"/>
                            </a:rPr>
                            <m:t>)</m:t>
                          </m:r>
                          <m:r>
                            <a:rPr lang="el-GR" sz="2400" i="1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.</m:t>
                          </m:r>
                          <m:sSub>
                            <m:sSubPr>
                              <m:ctrlPr>
                                <a:rPr lang="el-GR" sz="240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40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+mj-lt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+mj-lt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.</m:t>
                          </m:r>
                          <m:sSub>
                            <m:sSubPr>
                              <m:ctrlPr>
                                <a:rPr lang="el-GR" sz="2400" i="1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l-GR" sz="240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 .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+mj-lt"/>
                                  <a:cs typeface="Arial" panose="020B0604020202020204" pitchFamily="34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  <a:cs typeface="Arial" panose="020B060402020202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  <a:cs typeface="Arial" panose="020B0604020202020204" pitchFamily="34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  <a:cs typeface="Arial" panose="020B0604020202020204" pitchFamily="3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+mj-lt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cs typeface="Arial" panose="020B0604020202020204" pitchFamily="34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cs typeface="Arial" panose="020B0604020202020204" pitchFamily="34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cs typeface="Arial" panose="020B0604020202020204" pitchFamily="34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+mj-lt"/>
                                      <a:cs typeface="Arial" panose="020B0604020202020204" pitchFamily="34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l-GR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l-GR" sz="2400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))</m:t>
                                  </m:r>
                                  <m:r>
                                    <a:rPr lang="el-GR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l-GR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l-GR" sz="2400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β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k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.</m:t>
                                  </m:r>
                                  <m:sSub>
                                    <m:sSubPr>
                                      <m:ctrlPr>
                                        <a:rPr lang="el-GR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l-GR" sz="2400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α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 .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+</m:t>
                                      </m:r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+mj-lt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  <a:latin typeface="+mj-lt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1261945"/>
                <a:ext cx="11521440" cy="5029200"/>
              </a:xfrm>
              <a:prstGeom prst="rect">
                <a:avLst/>
              </a:prstGeom>
              <a:blipFill>
                <a:blip r:embed="rId2"/>
                <a:stretch>
                  <a:fillRect l="-740" t="-726" r="-264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71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/>
              <p:nvPr/>
            </p:nvSpPr>
            <p:spPr>
              <a:xfrm>
                <a:off x="335280" y="1261945"/>
                <a:ext cx="11521440" cy="50292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000" dirty="0">
                    <a:solidFill>
                      <a:schemeClr val="tx2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Where:</a:t>
                </a:r>
              </a:p>
              <a:p>
                <a:pPr marL="800100" lvl="1" indent="-34290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is the probability of being in state </a:t>
                </a:r>
                <a:r>
                  <a:rPr lang="en-US" sz="2000" dirty="0" err="1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0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at time t and state k at time t + 1.</a:t>
                </a:r>
              </a:p>
              <a:p>
                <a:pPr marL="800100" lvl="1" indent="-34290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/>
                          <m:t>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n-US"/>
                      <m:t>i</m:t>
                    </m:r>
                    <m:r>
                      <m:rPr>
                        <m:nor/>
                      </m:rPr>
                      <a:rPr lang="en-US"/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is the forward probability for state </a:t>
                </a:r>
                <a:r>
                  <a:rPr lang="en-US" sz="2000" dirty="0" err="1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0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at time t.</a:t>
                </a:r>
              </a:p>
              <a:p>
                <a:pPr marL="800100" lvl="1" indent="-34290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/>
                          <m:t>β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/>
                      <m:t>(</m:t>
                    </m:r>
                    <m:r>
                      <m:rPr>
                        <m:nor/>
                      </m:rPr>
                      <a:rPr lang="en-US"/>
                      <m:t>k</m:t>
                    </m:r>
                    <m:r>
                      <m:rPr>
                        <m:nor/>
                      </m:rPr>
                      <a:rPr lang="en-US"/>
                      <m:t>)</m:t>
                    </m:r>
                  </m:oMath>
                </a14:m>
                <a:r>
                  <a:rPr lang="en-US" sz="20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is the backward probability for state k at time t + 1.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800100" lvl="1" indent="-34290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000"/>
                          <m:t>α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is the transition probability from state </a:t>
                </a:r>
                <a:r>
                  <a:rPr lang="en-US" sz="2200" dirty="0" err="1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2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to state k.</a:t>
                </a:r>
              </a:p>
              <a:p>
                <a:pPr marL="800100" lvl="1" indent="-34290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is the emission probability for observing symbol ot+1 in state k</a:t>
                </a:r>
              </a:p>
              <a:p>
                <a:pPr marL="800100" lvl="1" indent="-342900">
                  <a:lnSpc>
                    <a:spcPct val="107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sz="22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denominator is the normalization factor, which ensures that the probabilities sum to 1</a:t>
                </a:r>
              </a:p>
              <a:p>
                <a:pPr marL="342900" indent="-342900">
                  <a:lnSpc>
                    <a:spcPct val="107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q"/>
                </a:pPr>
                <a:r>
                  <a:rPr lang="en-US" sz="2200" dirty="0">
                    <a:solidFill>
                      <a:schemeClr val="tx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Compute the probability of being in state I at time t: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200" dirty="0">
                    <a:solidFill>
                      <a:schemeClr val="tx2"/>
                    </a:solidFill>
                    <a:latin typeface="Bahnschrift Condensed" panose="020B0502040204020203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6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600" dirty="0">
                            <a:solidFill>
                              <a:schemeClr val="tx2"/>
                            </a:solidFill>
                            <a:latin typeface="Book Antiqua" panose="020406020503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γ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  <m:r>
                      <a:rPr lang="en-US" sz="2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𝐽</m:t>
                        </m:r>
                        <m: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26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l-GR" sz="2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600" dirty="0">
                                <a:solidFill>
                                  <a:schemeClr val="tx2"/>
                                </a:solidFill>
                                <a:latin typeface="Book Antiqua" panose="020406020503050303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γ</m:t>
                            </m:r>
                          </m:e>
                          <m:sub>
                            <m:r>
                              <a:rPr lang="en-US" sz="2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  <m:r>
                              <a:rPr lang="en-US" sz="2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en-US" sz="26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e>
                        </m:d>
                      </m:e>
                    </m:nary>
                  </m:oMath>
                </a14:m>
                <a:endParaRPr lang="en-US" sz="2600" dirty="0">
                  <a:solidFill>
                    <a:schemeClr val="tx2"/>
                  </a:solidFill>
                  <a:latin typeface="Book Antiqua" panose="0204060205030503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600" dirty="0">
                    <a:solidFill>
                      <a:schemeClr val="tx2"/>
                    </a:solidFill>
                    <a:latin typeface="Book Antiqua" panose="020406020503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     </a:t>
                </a:r>
                <a:r>
                  <a:rPr lang="en-US" sz="2200" dirty="0">
                    <a:solidFill>
                      <a:schemeClr val="tx2"/>
                    </a:solidFill>
                    <a:latin typeface="Book Antiqua" panose="020406020503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sz="2200" dirty="0">
                            <a:solidFill>
                              <a:schemeClr val="tx2"/>
                            </a:solidFill>
                            <a:latin typeface="Book Antiqua" panose="020406020503050303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γ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200" dirty="0">
                    <a:solidFill>
                      <a:schemeClr val="tx2"/>
                    </a:solidFill>
                    <a:latin typeface="Book Antiqua" panose="020406020503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 is the expected number of times the HMM starts in state </a:t>
                </a:r>
                <a:r>
                  <a:rPr lang="en-US" sz="2200" dirty="0" err="1">
                    <a:solidFill>
                      <a:schemeClr val="tx2"/>
                    </a:solidFill>
                    <a:latin typeface="Book Antiqua" panose="020406020503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sz="2200" dirty="0">
                    <a:solidFill>
                      <a:schemeClr val="tx2"/>
                    </a:solidFill>
                    <a:latin typeface="Book Antiqua" panose="020406020503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1261945"/>
                <a:ext cx="11521440" cy="5029200"/>
              </a:xfrm>
              <a:prstGeom prst="rect">
                <a:avLst/>
              </a:prstGeom>
              <a:blipFill>
                <a:blip r:embed="rId2"/>
                <a:stretch>
                  <a:fillRect l="-529" t="-484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8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180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/>
              <p:nvPr/>
            </p:nvSpPr>
            <p:spPr>
              <a:xfrm>
                <a:off x="335280" y="1197205"/>
                <a:ext cx="11521440" cy="496379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dirty="0">
                    <a:solidFill>
                      <a:schemeClr val="tx2"/>
                    </a:solidFill>
                    <a:ea typeface="Calibri" panose="020F0502020204030204" pitchFamily="34" charset="0"/>
                    <a:cs typeface="Arial" panose="020B0604020202020204" pitchFamily="34" charset="0"/>
                  </a:rPr>
                  <a:t>3) </a:t>
                </a:r>
                <a:r>
                  <a:rPr lang="en-US" sz="2000" b="1" dirty="0"/>
                  <a:t>The </a:t>
                </a:r>
                <a:r>
                  <a:rPr lang="en-US" sz="2000" b="1" dirty="0" err="1"/>
                  <a:t>M_Step</a:t>
                </a:r>
                <a:r>
                  <a:rPr lang="en-US" sz="2000" b="1" dirty="0"/>
                  <a:t>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200" dirty="0">
                    <a:solidFill>
                      <a:schemeClr val="tx2"/>
                    </a:solidFill>
                    <a:latin typeface="Book Antiqua" panose="02040602050305030304" pitchFamily="18" charset="0"/>
                    <a:ea typeface="Calibri" panose="020F0502020204030204" pitchFamily="34" charset="0"/>
                    <a:cs typeface="Arial" panose="020B0604020202020204" pitchFamily="34" charset="0"/>
                  </a:rPr>
                  <a:t>the Baum-Welch algorithm involves updating the parameters of the Hidden Markov Model (HMM) using the expected sufficient statistics computed in the E-step 1. 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/>
                  <a:t>The update equations for the parameters are as follows:</a:t>
                </a:r>
                <a:endParaRPr lang="en-US" b="1" u="sng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u="sng" dirty="0">
                    <a:solidFill>
                      <a:schemeClr val="accent1">
                        <a:lumMod val="75000"/>
                      </a:schemeClr>
                    </a:solidFill>
                  </a:rPr>
                  <a:t>The update equations for the parameters are as follows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dirty="0"/>
                  <a:t>Transition matrix A</a:t>
                </a:r>
                <a:r>
                  <a:rPr lang="en-US" dirty="0"/>
                  <a:t>: </a:t>
                </a:r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/>
                  <a:t>The new estimate of the transition probability from state </a:t>
                </a:r>
                <a:r>
                  <a:rPr lang="en-US" dirty="0" err="1"/>
                  <a:t>i</a:t>
                </a:r>
                <a:r>
                  <a:rPr lang="en-US" dirty="0"/>
                  <a:t> to state j is given by: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/>
                          </m:ctrlPr>
                        </m:sSubPr>
                        <m:e>
                          <m:r>
                            <a:rPr lang="en-US" i="1"/>
                            <m:t>𝑎</m:t>
                          </m:r>
                        </m:e>
                        <m:sub>
                          <m:r>
                            <a:rPr lang="en-US" i="1"/>
                            <m:t>𝑖𝑗</m:t>
                          </m:r>
                        </m:sub>
                      </m:sSub>
                      <m:r>
                        <a:rPr lang="en-US" i="1"/>
                        <m:t>=</m:t>
                      </m:r>
                      <m:f>
                        <m:fPr>
                          <m:ctrlPr>
                            <a:rPr lang="en-US" i="1"/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i="1"/>
                              </m:ctrlPr>
                            </m:naryPr>
                            <m:sub>
                              <m:r>
                                <a:rPr lang="en-US" i="1"/>
                                <m:t>𝑡</m:t>
                              </m:r>
                              <m:r>
                                <a:rPr lang="en-US" i="1"/>
                                <m:t>=</m:t>
                              </m:r>
                              <m:r>
                                <a:rPr lang="en-US" i="1"/>
                                <m:t>1</m:t>
                              </m:r>
                            </m:sub>
                            <m:sup>
                              <m:r>
                                <a:rPr lang="en-US" i="1"/>
                                <m:t>𝑇</m:t>
                              </m:r>
                              <m:r>
                                <a:rPr lang="en-US" i="1"/>
                                <m:t>−</m:t>
                              </m:r>
                              <m:r>
                                <a:rPr lang="en-US" i="1"/>
                                <m:t>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𝜉</m:t>
                                  </m:r>
                                </m:e>
                                <m:sub>
                                  <m:r>
                                    <a:rPr lang="en-US" i="1"/>
                                    <m:t>𝑡</m:t>
                                  </m:r>
                                </m:sub>
                              </m:sSub>
                              <m:r>
                                <a:rPr lang="en-US" i="1"/>
                                <m:t>(</m:t>
                              </m:r>
                              <m:r>
                                <a:rPr lang="en-US" i="1"/>
                                <m:t>𝑖</m:t>
                              </m:r>
                              <m:r>
                                <a:rPr lang="en-US" i="1"/>
                                <m:t>,</m:t>
                              </m:r>
                              <m:r>
                                <a:rPr lang="en-US" i="1"/>
                                <m:t>𝑗</m:t>
                              </m:r>
                              <m:r>
                                <a:rPr lang="en-US" i="1"/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i="1"/>
                              </m:ctrlPr>
                            </m:naryPr>
                            <m:sub>
                              <m:r>
                                <a:rPr lang="en-US" i="1"/>
                                <m:t>𝑡</m:t>
                              </m:r>
                              <m:r>
                                <a:rPr lang="en-US" i="1"/>
                                <m:t>=</m:t>
                              </m:r>
                              <m:r>
                                <a:rPr lang="en-US" i="1"/>
                                <m:t>1</m:t>
                              </m:r>
                            </m:sub>
                            <m:sup>
                              <m:r>
                                <a:rPr lang="en-US" i="1"/>
                                <m:t>𝑇</m:t>
                              </m:r>
                              <m:r>
                                <a:rPr lang="en-US" i="1"/>
                                <m:t>−</m:t>
                              </m:r>
                              <m:r>
                                <a:rPr lang="en-US" i="1"/>
                                <m:t>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r>
                                    <a:rPr lang="en-US" i="1"/>
                                    <m:t>𝛾</m:t>
                                  </m:r>
                                </m:e>
                                <m:sub>
                                  <m:r>
                                    <a:rPr lang="en-US" i="1"/>
                                    <m:t>𝑡</m:t>
                                  </m:r>
                                </m:sub>
                              </m:sSub>
                              <m:r>
                                <a:rPr lang="en-US" i="1"/>
                                <m:t>(</m:t>
                              </m:r>
                              <m:r>
                                <a:rPr lang="en-US" i="1"/>
                                <m:t>𝑖</m:t>
                              </m:r>
                              <m:r>
                                <a:rPr lang="en-US" i="1"/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lvl="2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dirty="0">
                    <a:latin typeface="+mj-lt"/>
                  </a:rPr>
                  <a:t>where </a:t>
                </a:r>
                <a:r>
                  <a:rPr lang="en-US" dirty="0" err="1">
                    <a:latin typeface="+mj-lt"/>
                  </a:rPr>
                  <a:t>ξt</a:t>
                </a:r>
                <a:r>
                  <a:rPr lang="en-US" dirty="0">
                    <a:latin typeface="+mj-lt"/>
                  </a:rPr>
                  <a:t>(</a:t>
                </a:r>
                <a:r>
                  <a:rPr lang="en-US" dirty="0" err="1">
                    <a:latin typeface="+mj-lt"/>
                  </a:rPr>
                  <a:t>i,j</a:t>
                </a:r>
                <a:r>
                  <a:rPr lang="en-US" dirty="0">
                    <a:latin typeface="+mj-lt"/>
                  </a:rPr>
                  <a:t>) is the expected number of transitions from state </a:t>
                </a:r>
                <a:r>
                  <a:rPr lang="en-US" dirty="0" err="1">
                    <a:latin typeface="+mj-lt"/>
                  </a:rPr>
                  <a:t>i</a:t>
                </a:r>
                <a:r>
                  <a:rPr lang="en-US" dirty="0">
                    <a:latin typeface="+mj-lt"/>
                  </a:rPr>
                  <a:t> to state j at time t, and </a:t>
                </a:r>
                <a:r>
                  <a:rPr lang="en-US" dirty="0" err="1">
                    <a:latin typeface="+mj-lt"/>
                  </a:rPr>
                  <a:t>γt</a:t>
                </a:r>
                <a:r>
                  <a:rPr lang="en-US" dirty="0">
                    <a:latin typeface="+mj-lt"/>
                  </a:rPr>
                  <a:t>(</a:t>
                </a:r>
                <a:r>
                  <a:rPr lang="en-US" dirty="0" err="1">
                    <a:latin typeface="+mj-lt"/>
                  </a:rPr>
                  <a:t>i</a:t>
                </a:r>
                <a:r>
                  <a:rPr lang="en-US" dirty="0">
                    <a:latin typeface="+mj-lt"/>
                  </a:rPr>
                  <a:t>) is     the expected number of times the HMM is in state </a:t>
                </a:r>
                <a:r>
                  <a:rPr lang="en-US" dirty="0" err="1">
                    <a:latin typeface="+mj-lt"/>
                  </a:rPr>
                  <a:t>i</a:t>
                </a:r>
                <a:r>
                  <a:rPr lang="en-US" dirty="0">
                    <a:latin typeface="+mj-lt"/>
                  </a:rPr>
                  <a:t> at time t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en-US" sz="2200" dirty="0">
                  <a:solidFill>
                    <a:schemeClr val="tx2"/>
                  </a:solidFill>
                  <a:latin typeface="Book Antiqua" panose="02040602050305030304" pitchFamily="18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1197205"/>
                <a:ext cx="11521440" cy="4963795"/>
              </a:xfrm>
              <a:prstGeom prst="rect">
                <a:avLst/>
              </a:prstGeom>
              <a:blipFill>
                <a:blip r:embed="rId2"/>
                <a:stretch>
                  <a:fillRect l="-370" t="-490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56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1809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/>
              <p:nvPr/>
            </p:nvSpPr>
            <p:spPr>
              <a:xfrm>
                <a:off x="335280" y="1197205"/>
                <a:ext cx="11521440" cy="50292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u="sng" dirty="0">
                    <a:solidFill>
                      <a:schemeClr val="accent1">
                        <a:lumMod val="75000"/>
                      </a:schemeClr>
                    </a:solidFill>
                  </a:rPr>
                  <a:t>The update equations for the parameters are as follows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:</a:t>
                </a:r>
              </a:p>
              <a:p>
                <a:r>
                  <a:rPr lang="en-US" b="1" dirty="0"/>
                  <a:t>Emission matrix B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The new estimate of the probability of observing symbol k in state j is given by:</a:t>
                </a:r>
                <a:endParaRPr lang="en-US" sz="11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100" dirty="0"/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where δ(Ot​=k) is the indicator function that is equal to 1 if Ot​=k and 0 otherwise</a:t>
                </a:r>
              </a:p>
              <a:p>
                <a:pPr lvl="0">
                  <a:lnSpc>
                    <a:spcPct val="150000"/>
                  </a:lnSpc>
                </a:pPr>
                <a:endParaRPr lang="en-US" b="1" dirty="0"/>
              </a:p>
              <a:p>
                <a:pPr lvl="0">
                  <a:lnSpc>
                    <a:spcPct val="150000"/>
                  </a:lnSpc>
                </a:pPr>
                <a:r>
                  <a:rPr lang="en-US" b="1" dirty="0"/>
                  <a:t>Initial state distribution π₀</a:t>
                </a:r>
                <a:r>
                  <a:rPr lang="en-US" dirty="0"/>
                  <a:t>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dirty="0"/>
                  <a:t> The new estimate of the probability of starting in state </a:t>
                </a:r>
                <a:r>
                  <a:rPr lang="en-US" dirty="0" err="1"/>
                  <a:t>i</a:t>
                </a:r>
                <a:r>
                  <a:rPr lang="en-US" dirty="0"/>
                  <a:t> is given by:</a:t>
                </a:r>
                <a:endParaRPr lang="en-US" sz="1600" dirty="0"/>
              </a:p>
              <a:p>
                <a:pPr lvl="8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>
                  <a:lnSpc>
                    <a:spcPct val="200000"/>
                  </a:lnSpc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Adobe Devanagari" panose="02040503050201020203" pitchFamily="18" charset="0"/>
                  </a:rPr>
                  <a:t>where γ1​(</a:t>
                </a:r>
                <a:r>
                  <a:rPr lang="en-US" dirty="0" err="1">
                    <a:latin typeface="Cambria Math" panose="02040503050406030204" pitchFamily="18" charset="0"/>
                    <a:ea typeface="Cambria Math" panose="02040503050406030204" pitchFamily="18" charset="0"/>
                    <a:cs typeface="Adobe Devanagari" panose="02040503050201020203" pitchFamily="18" charset="0"/>
                  </a:rPr>
                  <a:t>i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Adobe Devanagari" panose="02040503050201020203" pitchFamily="18" charset="0"/>
                  </a:rPr>
                  <a:t>) is the expected number of times the HMM starts in state i</a:t>
                </a:r>
              </a:p>
              <a:p>
                <a:pPr lvl="1">
                  <a:lnSpc>
                    <a:spcPct val="107000"/>
                  </a:lnSpc>
                  <a:spcAft>
                    <a:spcPts val="800"/>
                  </a:spcAft>
                </a:pPr>
                <a:endParaRPr lang="en-US" sz="2200" dirty="0">
                  <a:solidFill>
                    <a:schemeClr val="tx2"/>
                  </a:solidFill>
                  <a:latin typeface="Book Antiqua" panose="02040602050305030304" pitchFamily="18" charset="0"/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8FA571F-7C00-838F-B70E-B5C78B70A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1197205"/>
                <a:ext cx="11521440" cy="5029200"/>
              </a:xfrm>
              <a:prstGeom prst="rect">
                <a:avLst/>
              </a:prstGeom>
              <a:blipFill>
                <a:blip r:embed="rId2"/>
                <a:stretch>
                  <a:fillRect l="-370" t="-484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770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35280" y="1261945"/>
            <a:ext cx="11521440" cy="508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9DC137-1811-0005-B5C8-F5350EBD1D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38" t="19381" r="15645" b="22749"/>
          <a:stretch/>
        </p:blipFill>
        <p:spPr>
          <a:xfrm>
            <a:off x="475646" y="1329178"/>
            <a:ext cx="11307859" cy="494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1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35280" y="1261945"/>
            <a:ext cx="11521440" cy="508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0B821-D826-C379-4711-BA92A7B1D4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39" t="20481" r="14716" b="13952"/>
          <a:stretch/>
        </p:blipFill>
        <p:spPr>
          <a:xfrm>
            <a:off x="449343" y="1342513"/>
            <a:ext cx="11293313" cy="492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1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35280" y="1261945"/>
            <a:ext cx="11521440" cy="508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B6BF26-CA79-D47F-F67B-AB986F75F5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33" t="36701" r="14948" b="28385"/>
          <a:stretch/>
        </p:blipFill>
        <p:spPr>
          <a:xfrm>
            <a:off x="435204" y="1346380"/>
            <a:ext cx="11321591" cy="31390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129C3B-03C0-ED11-1F9F-94F248C3F6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41" t="33540" r="19838" b="40618"/>
          <a:stretch/>
        </p:blipFill>
        <p:spPr>
          <a:xfrm>
            <a:off x="435204" y="4485473"/>
            <a:ext cx="11321591" cy="177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4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7B91B0-29AA-DC1D-3E10-AE3E95EA9EF8}"/>
              </a:ext>
            </a:extLst>
          </p:cNvPr>
          <p:cNvSpPr/>
          <p:nvPr/>
        </p:nvSpPr>
        <p:spPr>
          <a:xfrm>
            <a:off x="2418761" y="103695"/>
            <a:ext cx="7354478" cy="10746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Baum welch Algorithm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FA571F-7C00-838F-B70E-B5C78B70A18C}"/>
              </a:ext>
            </a:extLst>
          </p:cNvPr>
          <p:cNvSpPr txBox="1"/>
          <p:nvPr/>
        </p:nvSpPr>
        <p:spPr>
          <a:xfrm>
            <a:off x="335280" y="1261945"/>
            <a:ext cx="11521440" cy="508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chemeClr val="tx2"/>
              </a:solidFill>
              <a:latin typeface="Book Antiqua" panose="0204060205030503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173018-AAFE-6A7E-3BEC-5F0ED903C6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98" t="58007" r="19124" b="14090"/>
          <a:stretch/>
        </p:blipFill>
        <p:spPr>
          <a:xfrm>
            <a:off x="466155" y="1328554"/>
            <a:ext cx="11259689" cy="495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5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{2F460E31-EAE7-438C-B521-C373BB31258F}tf22712842_win32</Template>
  <TotalTime>1301</TotalTime>
  <Words>1370</Words>
  <Application>Microsoft Office PowerPoint</Application>
  <PresentationFormat>Widescreen</PresentationFormat>
  <Paragraphs>198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5" baseType="lpstr">
      <vt:lpstr>Abadi</vt:lpstr>
      <vt:lpstr>Arial</vt:lpstr>
      <vt:lpstr>Bahnschrift Condensed</vt:lpstr>
      <vt:lpstr>Book Antiqua</vt:lpstr>
      <vt:lpstr>Bookman Old Style</vt:lpstr>
      <vt:lpstr>Calibri</vt:lpstr>
      <vt:lpstr>Cambria</vt:lpstr>
      <vt:lpstr>Cambria Math</vt:lpstr>
      <vt:lpstr>Franklin Gothic Book</vt:lpstr>
      <vt:lpstr>KaTeX_Main</vt:lpstr>
      <vt:lpstr>KaTeX_Math</vt:lpstr>
      <vt:lpstr>Roboto</vt:lpstr>
      <vt:lpstr>Segoe UI</vt:lpstr>
      <vt:lpstr>Times New Roman</vt:lpstr>
      <vt:lpstr>Wingdings</vt:lpstr>
      <vt:lpstr>Custom</vt:lpstr>
      <vt:lpstr>Stochastic processes</vt:lpstr>
      <vt:lpstr>Team members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processes</dc:title>
  <dc:creator>وسام فتحى مسعود عمر ابوسمك</dc:creator>
  <cp:lastModifiedBy>وسام فتحى مسعود عمر ابوسمك</cp:lastModifiedBy>
  <cp:revision>2</cp:revision>
  <dcterms:created xsi:type="dcterms:W3CDTF">2023-12-17T20:51:49Z</dcterms:created>
  <dcterms:modified xsi:type="dcterms:W3CDTF">2023-12-18T18:33:22Z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